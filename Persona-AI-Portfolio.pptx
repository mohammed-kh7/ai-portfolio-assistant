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540" y="502920"/>
            <a:ext cx="4163561" cy="1920240"/>
          </a:xfrm>
          <a:prstGeom prst="roundRect">
            <a:avLst>
              <a:gd name="adj" fmla="val 5714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3" name="Image 0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92" y="576072"/>
            <a:ext cx="4017257" cy="17739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0785" y="2606040"/>
            <a:ext cx="4119071" cy="1920240"/>
          </a:xfrm>
          <a:prstGeom prst="roundRect">
            <a:avLst>
              <a:gd name="adj" fmla="val 5714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5" name="Image 1" descr="d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7" y="2679192"/>
            <a:ext cx="3972767" cy="17739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0" y="731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مشروع من معرض الأعمال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1188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1F5F9"/>
                </a:solidFill>
              </a:rPr>
              <a:t>Persona AI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2103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موقع شخصي ذكي بمساعد RAG ولوحة تحكم للمشرف، مبني بالكامل على أتمتة n8n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React · n8n · Gemini · Qdrant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م. محمد خضير — Mohammed Khudair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فكرة المشروع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Workflows مترابطة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85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Node في n8n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RAG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مساعد بمعرفة خاصة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JWT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لوحة مشرف آمنة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62472" y="25146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9632" y="262432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المشكلة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990088"/>
            <a:ext cx="2350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المواقع الشخصية ثابتة؛ العميل ينتظر الرد والمالك يكرّر نفس الأجوبة.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64408" y="25146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262432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الحل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2990088"/>
            <a:ext cx="2350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موقع تفاعلي بمساعد ذكي يجيب من ملفات المالك نفسه (سيرة، خدمات، أسعار) على مدار الساعة.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62432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النتيجة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90088"/>
            <a:ext cx="2350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طلبات العملاء تُحفظ تلقائياً وتصل المالك فوراً، والمعرفة تُدار من لوحة واحدة بلا كود.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الواجهة الأمامية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120640" cy="2342866"/>
          </a:xfrm>
          <a:prstGeom prst="roundRect">
            <a:avLst>
              <a:gd name="adj" fmla="val 4683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4974336" cy="21965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React.js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37947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456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واجهة عربية RTL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0" y="37947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3192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Vercel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1887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تصميم داكن متجاوب مع الجوال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قائمة الخدمات تُجلب ديناميكياً من الـ API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نموذج «طلب خدمة فورية» لتسجيل العميل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أيقونة شات عائمة لفتح المساعد الذكي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بوابة دخول مخصصة للمشرف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معمارية النظام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737360" cy="2788920"/>
          </a:xfrm>
          <a:prstGeom prst="roundRect">
            <a:avLst>
              <a:gd name="adj" fmla="val 6316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261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64592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Vercel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Chat widget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Lead 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Admin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28800" cy="2788920"/>
          </a:xfrm>
          <a:prstGeom prst="roundRect">
            <a:avLst>
              <a:gd name="adj" fmla="val 6000"/>
            </a:avLst>
          </a:prstGeom>
          <a:solidFill>
            <a:srgbClr val="12302A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n8n Web API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6459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POST /site-api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Rate limit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JWT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AI Assistant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Gemini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267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Save Lead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Validate + Save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Admin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KB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Gemini + Qdrant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RAG search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194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2267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Sheets · Gmail · Telegram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Lead + alerts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2004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Drive · Sheets · Qdrant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Files + vectors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03120" y="257860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161848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92240" y="161848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97680" y="262432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262432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97680" y="363016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92240" y="3630168"/>
            <a:ext cx="365760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468880" y="4206240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12302A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68880" y="42793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RAG Ingestion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4663440"/>
            <a:ext cx="62179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Drive files → Gemini Embeddings → Qdrant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بوابة الـ API والأمان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1328" y="1188720"/>
            <a:ext cx="3955103" cy="2651760"/>
          </a:xfrm>
          <a:prstGeom prst="roundRect">
            <a:avLst>
              <a:gd name="adj" fmla="val 4138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480" y="1261872"/>
            <a:ext cx="3808799" cy="2505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Web API workflow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75120" y="118872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Rate Limiting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6642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60 طلباً بالدقيقة لكل IP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قفل الدخول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66420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5 محاولات فاشلة = قفل 15 دقيقة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278892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2898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JWT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32644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جلسة المشرف صالحة 12 ساعة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78892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2898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كلمة السر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26440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SHA-256 مع Salt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المسارات: chat · services · lead · login · admin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المساعد الذكي (AI Assistant)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641" y="1188720"/>
            <a:ext cx="4607439" cy="2103120"/>
          </a:xfrm>
          <a:prstGeom prst="roundRect">
            <a:avLst>
              <a:gd name="adj" fmla="val 5217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93" y="1261872"/>
            <a:ext cx="4461135" cy="1956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52044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611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القاعدة الذهبية: لا يخترع معلومة أو سعراً. إذا لم يجد الجواب يعرض التواصل المباشر.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نموذج Gemini بحرارة 0.3 لإجابات ثابتة ودقيقة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أداة Knowledge Base Search على Qdrant (أعلى 5 نتائج)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يرد بلغة العميل: عربي أو إنجليزي</a:t>
            </a:r>
            <a:endParaRPr lang="en-US" sz="1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يشجّع العميل على ترك اسمه ورقمه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خط الفهرسة (RAG Ingestion)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49533" y="1051560"/>
            <a:ext cx="7444934" cy="2606040"/>
          </a:xfrm>
          <a:prstGeom prst="roundRect">
            <a:avLst>
              <a:gd name="adj" fmla="val 4211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r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85" y="1124712"/>
            <a:ext cx="7298630" cy="2459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3840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3886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1. اكتشاف الملفات الجديدة والمعدّلة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3840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3886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2. استخراج النص من PDF و Word و TXT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3840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3886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3. تقطيع النص + Embeddings من Gemini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886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4. تخزين في Qdrant وتحديث الشيت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تسجيل طلبات العملاء (Save Lead)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846320" cy="1856951"/>
          </a:xfrm>
          <a:prstGeom prst="roundRect">
            <a:avLst>
              <a:gd name="adj" fmla="val 5909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l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4700016" cy="17106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33756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29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رد النجاح للعميل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«تم استلام طلبك، وسنتواصل معك قريباً» مع رقم طلب فريد لكل عميل.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تحقق من البيانات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اسم 2–80 حرفاً، هاتف 7–15 رقماً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2532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حفظ في Google Sheets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898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مع التوقيت وحالة «جديد»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767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إشعار المالك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41330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بريد Gmail + رسالة Telegram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لوحة تحكم المشرف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3652" y="1097280"/>
            <a:ext cx="4733416" cy="219456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d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04" y="1170432"/>
            <a:ext cx="4587112" cy="2048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97280"/>
            <a:ext cx="3108960" cy="2135516"/>
          </a:xfrm>
          <a:prstGeom prst="roundRect">
            <a:avLst>
              <a:gd name="adj" fmla="val 5138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6" name="Image 1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170432"/>
            <a:ext cx="2962656" cy="19892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62472" y="3520440"/>
            <a:ext cx="2624328" cy="123444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99632" y="363016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قاعدة المعرفة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399592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رفع واستبدال وحذف الملفات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64408" y="3520440"/>
            <a:ext cx="2624328" cy="123444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401568" y="363016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طلبات العملاء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01568" y="399592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متابعة الـ Leads من الشيت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2624328" cy="123444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3630168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فحص الـ Webhook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399592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اختبار الاتصال من اللوحة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أتمتة إدارة المعرفة (Admin)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3043" y="1051560"/>
            <a:ext cx="7557914" cy="2651760"/>
          </a:xfrm>
          <a:prstGeom prst="roundRect">
            <a:avLst>
              <a:gd name="adj" fmla="val 4138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pic>
        <p:nvPicPr>
          <p:cNvPr id="4" name="Image 0" descr="ad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95" y="1124712"/>
            <a:ext cx="7411610" cy="2505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38862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الحذف يمسح المتجهات والملف والصف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38862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الاستبدال يعيد الفهرسة تلقائياً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38862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أنواع مسموحة: PDF · DOCX · TXT · MD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8862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تحقق Verify بعد كل رفع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التقنيات المستخدمة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React.js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21408" y="12344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Vercel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85616" y="12344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85616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n8n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9824" y="12344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9824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Google Gemini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14032" y="123444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4032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Qdrant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Google Drive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21408" y="19659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21408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Google Sheets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85616" y="19659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85616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Gmail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49824" y="19659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9824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Telegram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14032" y="196596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F2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JWT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6316"/>
            </a:avLst>
          </a:prstGeom>
          <a:solidFill>
            <a:srgbClr val="111A2E"/>
          </a:solidFill>
          <a:ln w="12700">
            <a:solidFill>
              <a:srgbClr val="2432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شكراً لمتابعتكم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محمد خضير — مطوّر واجهات أمامية وأتمتة ذكاء اصطناعي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persona-website-mlux.vercel.app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 AI">
  <a:themeElements>
    <a:clrScheme name="Persona AI">
      <a:dk1>
        <a:srgbClr val="0B1020"/>
      </a:dk1>
      <a:lt1>
        <a:srgbClr val="F1F5F9"/>
      </a:lt1>
      <a:dk2>
        <a:srgbClr val="111A2E"/>
      </a:dk2>
      <a:lt2>
        <a:srgbClr val="94A3B8"/>
      </a:lt2>
      <a:accent1>
        <a:srgbClr val="14B8A6"/>
      </a:accent1>
      <a:accent2>
        <a:srgbClr val="38BDF8"/>
      </a:accent2>
      <a:accent3>
        <a:srgbClr val="F59E0B"/>
      </a:accent3>
      <a:accent4>
        <a:srgbClr val="A78BFA"/>
      </a:accent4>
      <a:accent5>
        <a:srgbClr val="F472B6"/>
      </a:accent5>
      <a:accent6>
        <a:srgbClr val="34D399"/>
      </a:accent6>
      <a:hlink>
        <a:srgbClr val="14B8A6"/>
      </a:hlink>
      <a:folHlink>
        <a:srgbClr val="94A3B8"/>
      </a:folHlink>
    </a:clrScheme>
    <a:fontScheme name="Persona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 AI — Portfolio</dc:title>
  <dc:subject>PptxGenJS Presentation</dc:subject>
  <dc:creator>Mohammed Khudair</dc:creator>
  <cp:lastModifiedBy>Mohammed Khudair</cp:lastModifiedBy>
  <cp:revision>1</cp:revision>
  <dcterms:created xsi:type="dcterms:W3CDTF">2026-10-28T20:09:07Z</dcterms:created>
  <dcterms:modified xsi:type="dcterms:W3CDTF">2026-10-28T20:09:07Z</dcterms:modified>
</cp:coreProperties>
</file>